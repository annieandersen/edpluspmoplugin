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C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1645920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Catalogs.</a:t>
            </a:r>
            <a:endParaRPr lang="en-US" sz="110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in Common</a:t>
            </a:r>
            <a:endParaRPr lang="en-US" sz="110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 You'd Think.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822960" y="7680960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indent="0" marL="0">
              <a:buNone/>
            </a:pPr>
            <a:r>
              <a:rPr lang="en-US" sz="24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</a:t>
            </a:r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comparison of </a:t>
            </a:r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23,948 courses</a:t>
            </a:r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across </a:t>
            </a:r>
            <a:pPr indent="0" marL="0">
              <a:buNone/>
            </a:pPr>
            <a:r>
              <a:rPr lang="en-US" sz="2400" b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State</a:t>
            </a:r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the </a:t>
            </a:r>
            <a:pPr indent="0" marL="0">
              <a:buNone/>
            </a:pPr>
            <a:r>
              <a:rPr lang="en-US" sz="24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Tennessee, Knoxville.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8778240"/>
            <a:ext cx="1463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ASU Online Leadership  ·  v2, April 2026  ·  Method: sentence-transformer embeddings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941832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ASU</a:t>
            </a:r>
            <a:pPr indent="0" marL="0">
              <a:buNone/>
            </a:pPr>
            <a:r>
              <a:rPr lang="en-US" sz="18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EdPlus</a:t>
            </a:r>
            <a:endParaRPr lang="en-US" sz="1820" dirty="0"/>
          </a:p>
        </p:txBody>
      </p:sp>
      <p:sp>
        <p:nvSpPr>
          <p:cNvPr id="6" name="Text 4"/>
          <p:cNvSpPr/>
          <p:nvPr/>
        </p:nvSpPr>
        <p:spPr>
          <a:xfrm>
            <a:off x="822960" y="975116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State University</a:t>
            </a:r>
            <a:endParaRPr lang="en-US" sz="10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280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REFRAME  ·  LEXICAL → SEMANTIC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645920" y="1097280"/>
            <a:ext cx="8229600" cy="822960"/>
          </a:xfrm>
          <a:prstGeom prst="rect">
            <a:avLst/>
          </a:prstGeom>
          <a:solidFill>
            <a:srgbClr val="FFC627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0" y="1005840"/>
            <a:ext cx="1463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were reading the catalogs wrong.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1645920" y="2560320"/>
            <a:ext cx="109728" cy="109728"/>
          </a:xfrm>
          <a:prstGeom prst="ellipse">
            <a:avLst/>
          </a:prstGeom>
          <a:solidFill>
            <a:srgbClr val="FFC627"/>
          </a:solidFill>
          <a:ln/>
        </p:spPr>
      </p:sp>
      <p:sp>
        <p:nvSpPr>
          <p:cNvPr id="6" name="Shape 4"/>
          <p:cNvSpPr/>
          <p:nvPr/>
        </p:nvSpPr>
        <p:spPr>
          <a:xfrm>
            <a:off x="1984248" y="2560320"/>
            <a:ext cx="109728" cy="109728"/>
          </a:xfrm>
          <a:prstGeom prst="ellipse">
            <a:avLst/>
          </a:prstGeom>
          <a:solidFill>
            <a:srgbClr val="FFC627"/>
          </a:solidFill>
          <a:ln/>
        </p:spPr>
      </p:sp>
      <p:sp>
        <p:nvSpPr>
          <p:cNvPr id="7" name="Shape 5"/>
          <p:cNvSpPr/>
          <p:nvPr/>
        </p:nvSpPr>
        <p:spPr>
          <a:xfrm>
            <a:off x="2322576" y="2560320"/>
            <a:ext cx="109728" cy="109728"/>
          </a:xfrm>
          <a:prstGeom prst="ellipse">
            <a:avLst/>
          </a:prstGeom>
          <a:solidFill>
            <a:srgbClr val="FFC627"/>
          </a:solidFill>
          <a:ln/>
        </p:spPr>
      </p:sp>
      <p:sp>
        <p:nvSpPr>
          <p:cNvPr id="8" name="Shape 6"/>
          <p:cNvSpPr/>
          <p:nvPr/>
        </p:nvSpPr>
        <p:spPr>
          <a:xfrm>
            <a:off x="2660904" y="2560320"/>
            <a:ext cx="109728" cy="109728"/>
          </a:xfrm>
          <a:prstGeom prst="ellipse">
            <a:avLst/>
          </a:prstGeom>
          <a:solidFill>
            <a:srgbClr val="FFC627"/>
          </a:solidFill>
          <a:ln/>
        </p:spPr>
      </p:sp>
      <p:sp>
        <p:nvSpPr>
          <p:cNvPr id="9" name="Shape 7"/>
          <p:cNvSpPr/>
          <p:nvPr/>
        </p:nvSpPr>
        <p:spPr>
          <a:xfrm>
            <a:off x="2999232" y="2560320"/>
            <a:ext cx="109728" cy="109728"/>
          </a:xfrm>
          <a:prstGeom prst="ellipse">
            <a:avLst/>
          </a:prstGeom>
          <a:solidFill>
            <a:srgbClr val="FFC627"/>
          </a:solidFill>
          <a:ln/>
        </p:spPr>
      </p:sp>
      <p:sp>
        <p:nvSpPr>
          <p:cNvPr id="10" name="Text 8"/>
          <p:cNvSpPr/>
          <p:nvPr/>
        </p:nvSpPr>
        <p:spPr>
          <a:xfrm>
            <a:off x="1645920" y="3017520"/>
            <a:ext cx="1463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initial lexical comparison (TF-IDF) suggested most of each catalog was unique to its school. Replacing it with a sentence-transformer model (semantic similarity on descriptions) shows the opposite: the catalogs overlap substantially, and the interesting story is in the middle layer — courses that teach similar things, differently.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828800" y="5486400"/>
            <a:ext cx="7132320" cy="3657600"/>
          </a:xfrm>
          <a:prstGeom prst="rect">
            <a:avLst/>
          </a:prstGeom>
          <a:solidFill>
            <a:srgbClr val="F7F7F7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57607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· Lexical (TF-IDF)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03120" y="63093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Mutual-strong 1:1 pairs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17920" y="6309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316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103120" y="69494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Courses with strong match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17920" y="6949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~840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103120" y="75895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flagged as unique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17920" y="7589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103120" y="82296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17920" y="8229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“mostly distinct”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9326880" y="5486400"/>
            <a:ext cx="7132320" cy="3657600"/>
          </a:xfrm>
          <a:prstGeom prst="rect">
            <a:avLst/>
          </a:prstGeom>
          <a:solidFill>
            <a:srgbClr val="FFFAEE"/>
          </a:solidFill>
          <a:ln w="25400">
            <a:solidFill>
              <a:srgbClr val="FFC6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0" y="57607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· Semantic (sentence-transformer)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0" y="63093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Mutual-strong 1:1 pairs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16000" y="6309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AD7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1,619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601200" y="69494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Courses with strong match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716000" y="6949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AD7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~7,000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601200" y="75895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truly distinctive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716000" y="7589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AD7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~3%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9601200" y="82296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716000" y="8229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AD7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layers: deep overlap + joint-dev + marquee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280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LAYERS OF OVERLAP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097280"/>
            <a:ext cx="10058400" cy="822960"/>
          </a:xfrm>
          <a:prstGeom prst="rect">
            <a:avLst/>
          </a:prstGeom>
          <a:solidFill>
            <a:srgbClr val="FFC62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914400"/>
            <a:ext cx="1645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layers, three strategies.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822960" y="2560320"/>
            <a:ext cx="5440680" cy="320040"/>
          </a:xfrm>
          <a:prstGeom prst="rect">
            <a:avLst/>
          </a:prstGeom>
          <a:solidFill>
            <a:srgbClr val="1A5D3A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880360"/>
            <a:ext cx="5440680" cy="6446520"/>
          </a:xfrm>
          <a:prstGeom prst="rect">
            <a:avLst/>
          </a:prstGeom>
          <a:solidFill>
            <a:srgbClr val="E8F3EC"/>
          </a:solidFill>
          <a:ln w="12700">
            <a:solidFill>
              <a:srgbClr val="1A5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30632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338328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RECIPROCAL-CREDIT BACKBONE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4023360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A5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1,619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1143000" y="55778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mutual 1:1 pairs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6126480"/>
            <a:ext cx="4800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schools teach the same content and each picks the other as its closest match (≥ 0.70 cosine, both directions). Ready for a published registrar crosswalk.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43000" y="7772400"/>
            <a:ext cx="4800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1A5D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7863840"/>
            <a:ext cx="4526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 Courts ↔ Federal Courts (0.95)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Systems ↔ Operating Systems (0.93)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Jazz Pedagogy ↔ Jazz Pedagogy (0.93)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Neuroanatomy ↔ Neuroanatomy (0.95)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37960" y="2560320"/>
            <a:ext cx="5440680" cy="320040"/>
          </a:xfrm>
          <a:prstGeom prst="rect">
            <a:avLst/>
          </a:prstGeom>
          <a:solidFill>
            <a:srgbClr val="6AA889"/>
          </a:solidFill>
          <a:ln/>
        </p:spPr>
      </p:sp>
      <p:sp>
        <p:nvSpPr>
          <p:cNvPr id="15" name="Shape 13"/>
          <p:cNvSpPr/>
          <p:nvPr/>
        </p:nvSpPr>
        <p:spPr>
          <a:xfrm>
            <a:off x="6537960" y="2880360"/>
            <a:ext cx="5440680" cy="6446520"/>
          </a:xfrm>
          <a:prstGeom prst="rect">
            <a:avLst/>
          </a:prstGeom>
          <a:solidFill>
            <a:srgbClr val="EEF3EC"/>
          </a:solidFill>
          <a:ln w="12700">
            <a:solidFill>
              <a:srgbClr val="6AA88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30632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A8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0" y="338328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JOINT-DEVELOPMENT SPACE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858000" y="4023360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6AA8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~5,000</a:t>
            </a:r>
            <a:endParaRPr lang="en-US" sz="7200" dirty="0"/>
          </a:p>
        </p:txBody>
      </p:sp>
      <p:sp>
        <p:nvSpPr>
          <p:cNvPr id="19" name="Text 17"/>
          <p:cNvSpPr/>
          <p:nvPr/>
        </p:nvSpPr>
        <p:spPr>
          <a:xfrm>
            <a:off x="6858000" y="55778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school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0" y="6126480"/>
            <a:ext cx="4800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Courses with a thematically adjacent but not identical counterpart (0.50–0.70). Same field, different emphasis. The space where stackable certificates and co-designed curriculum create real value.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858000" y="7772400"/>
            <a:ext cx="4800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6AA88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95160" y="7863840"/>
            <a:ext cx="4526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Systems ↔ Operating Systems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Actuarial Models ↔ Actuarial Science Problems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Herpetology ↔ Herpetology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language &amp; culture studies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2252960" y="2560320"/>
            <a:ext cx="5440680" cy="320040"/>
          </a:xfrm>
          <a:prstGeom prst="rect">
            <a:avLst/>
          </a:prstGeom>
          <a:solidFill>
            <a:srgbClr val="C44536"/>
          </a:solidFill>
          <a:ln/>
        </p:spPr>
      </p:sp>
      <p:sp>
        <p:nvSpPr>
          <p:cNvPr id="24" name="Shape 22"/>
          <p:cNvSpPr/>
          <p:nvPr/>
        </p:nvSpPr>
        <p:spPr>
          <a:xfrm>
            <a:off x="12252960" y="2880360"/>
            <a:ext cx="5440680" cy="6446520"/>
          </a:xfrm>
          <a:prstGeom prst="rect">
            <a:avLst/>
          </a:prstGeom>
          <a:solidFill>
            <a:srgbClr val="F9E7E3"/>
          </a:solidFill>
          <a:ln w="12700">
            <a:solidFill>
              <a:srgbClr val="C4453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573000" y="30632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4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DISTINCTIVE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573000" y="338328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MARQUEE OFFERINGS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2573000" y="4023360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44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~600</a:t>
            </a:r>
            <a:endParaRPr lang="en-US" sz="7200" dirty="0"/>
          </a:p>
        </p:txBody>
      </p:sp>
      <p:sp>
        <p:nvSpPr>
          <p:cNvPr id="28" name="Text 26"/>
          <p:cNvSpPr/>
          <p:nvPr/>
        </p:nvSpPr>
        <p:spPr>
          <a:xfrm>
            <a:off x="12573000" y="55778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across both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573000" y="6126480"/>
            <a:ext cx="4800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Courses with no close counterpart at the partner institution. These are genuinely signature programs — small in count, high in strategic value.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2573000" y="7772400"/>
            <a:ext cx="4800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4453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710160" y="7863840"/>
            <a:ext cx="4526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ASU: Air Traffic Control (ATC), specialized aviation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UTK: Nuclear Engineering (NE), Music Performance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(MUPF ensembles), Veterinary Medicine &amp;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Pathology, Forestry/Wildlife &amp; Fisheries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" y="9601200"/>
            <a:ext cx="1645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different partnership strategies. The deck that follows walks each one.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280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01 · RECIPROCAL CREDIT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280160"/>
            <a:ext cx="5486400" cy="822960"/>
          </a:xfrm>
          <a:prstGeom prst="rect">
            <a:avLst/>
          </a:prstGeom>
          <a:solidFill>
            <a:srgbClr val="FFC62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8872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1,619 clean 1:1 pairs.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1645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of highest-similarity mutual-strong pairs. Both sides describe the same content and each picks the other as its closest match. The low-friction foundation for automatic credit recognition.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749040"/>
            <a:ext cx="16642080" cy="457200"/>
          </a:xfrm>
          <a:prstGeom prst="rect">
            <a:avLst/>
          </a:prstGeom>
          <a:solidFill>
            <a:srgbClr val="191919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749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94560" y="37490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ASU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0" y="37490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4251960"/>
            <a:ext cx="16642080" cy="475488"/>
          </a:xfrm>
          <a:prstGeom prst="rect">
            <a:avLst/>
          </a:prstGeom>
          <a:solidFill>
            <a:srgbClr val="FFFA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25196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D7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194560" y="425196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 613  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 Courts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0" y="425196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 916  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 Courts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472744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D7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194560" y="4727448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 426  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Neuroanatomy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0" y="4727448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 200  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Introductory Neuroanatomy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5202936"/>
            <a:ext cx="16642080" cy="475488"/>
          </a:xfrm>
          <a:prstGeom prst="rect">
            <a:avLst/>
          </a:prstGeom>
          <a:solidFill>
            <a:srgbClr val="FFFA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5202936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D7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194560" y="5202936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 330  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Systems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01200" y="5202936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COSC 361  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Systems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5678424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D7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94560" y="5678424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 560  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Jazz Pedagogy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01200" y="5678424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MUJZ 420  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Jazz Pedagogy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2960" y="6153912"/>
            <a:ext cx="16642080" cy="475488"/>
          </a:xfrm>
          <a:prstGeom prst="rect">
            <a:avLst/>
          </a:prstGeom>
          <a:solidFill>
            <a:srgbClr val="FFFA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615391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D7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0.92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194560" y="6153912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 587  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Radiation Heat Transfer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01200" y="6153912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 613  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Radiation Heat Transfer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5840" y="662940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D7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0.92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2194560" y="662940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THP 517  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Management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601200" y="662940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THEA 330  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Management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22960" y="7104888"/>
            <a:ext cx="16642080" cy="475488"/>
          </a:xfrm>
          <a:prstGeom prst="rect">
            <a:avLst/>
          </a:prstGeom>
          <a:solidFill>
            <a:srgbClr val="FFFA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5840" y="710488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D7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0.92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2194560" y="7104888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 260  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Fundamentals of Sustainable Horticulture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601200" y="7104888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PLSC 210  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Horticulture: Principles and Practices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05840" y="7580376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D7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0.92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2194560" y="7580376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 371  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Landscape Architecture Professional Practice I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601200" y="7580376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 582  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Practices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2960" y="8055864"/>
            <a:ext cx="16642080" cy="475488"/>
          </a:xfrm>
          <a:prstGeom prst="rect">
            <a:avLst/>
          </a:prstGeom>
          <a:solidFill>
            <a:srgbClr val="FFFA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5840" y="8055864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D7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2194560" y="8055864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 443  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Abstract Algebra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601200" y="8055864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351  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Abstract Algebra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05840" y="853135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D7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0.89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2194560" y="8531352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SLC 515  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Second-Language Acquisition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601200" y="8531352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 476  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Language Acquisition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22960" y="9006840"/>
            <a:ext cx="16642080" cy="475488"/>
          </a:xfrm>
          <a:prstGeom prst="rect">
            <a:avLst/>
          </a:prstGeom>
          <a:solidFill>
            <a:srgbClr val="FFFA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05840" y="900684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D7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0.86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2194560" y="900684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 102  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Elementary Arabic II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601200" y="900684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 122  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Elementary Arabic II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005840" y="948232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D7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0.85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2194560" y="9482328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 516  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Criminal Law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601200" y="9482328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 809  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Criminal Law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22960" y="9784080"/>
            <a:ext cx="1645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list of 1,619 pairs published alongside this deck.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280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01 · DENSITY HOTSPOTS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280160"/>
            <a:ext cx="7315200" cy="822960"/>
          </a:xfrm>
          <a:prstGeom prst="rect">
            <a:avLst/>
          </a:prstGeom>
          <a:solidFill>
            <a:srgbClr val="FFC62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8872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reciprocal credit is already dense.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1645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ASU subjects with the highest share of strong cross-school pairs (min. 10 non-shell courses). Each maps to a single dominant UTK subject. These are the clearest places to start a published crosswalk — agreement is already implicit in course content.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HEB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011680" y="39319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Hebrew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09360" y="4041648"/>
            <a:ext cx="7315200" cy="283464"/>
          </a:xfrm>
          <a:prstGeom prst="rect">
            <a:avLst/>
          </a:prstGeom>
          <a:solidFill>
            <a:srgbClr val="F3F3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4041648"/>
            <a:ext cx="6437376" cy="283464"/>
          </a:xfrm>
          <a:prstGeom prst="rect">
            <a:avLst/>
          </a:prstGeom>
          <a:solidFill>
            <a:srgbClr val="1A5D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38176" y="39319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 strong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910560" y="3931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UTK HEBR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4348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011680" y="44348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Landscape Architecture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09360" y="4544568"/>
            <a:ext cx="7315200" cy="283464"/>
          </a:xfrm>
          <a:prstGeom prst="rect">
            <a:avLst/>
          </a:prstGeom>
          <a:solidFill>
            <a:srgbClr val="F3F3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4544568"/>
            <a:ext cx="5998464" cy="283464"/>
          </a:xfrm>
          <a:prstGeom prst="rect">
            <a:avLst/>
          </a:prstGeom>
          <a:solidFill>
            <a:srgbClr val="1A5D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99264" y="4434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 strong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910560" y="4434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UTK LAR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49377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011680" y="49377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 Studies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09360" y="5047488"/>
            <a:ext cx="7315200" cy="283464"/>
          </a:xfrm>
          <a:prstGeom prst="rect">
            <a:avLst/>
          </a:prstGeom>
          <a:solidFill>
            <a:srgbClr val="F3F3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5047488"/>
            <a:ext cx="5486400" cy="283464"/>
          </a:xfrm>
          <a:prstGeom prst="rect">
            <a:avLst/>
          </a:prstGeom>
          <a:solidFill>
            <a:srgbClr val="1A5D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887200" y="49377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 strong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910560" y="49377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UTK AFAS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2960" y="54406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011680" y="54406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Counseling Psychology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09360" y="5550408"/>
            <a:ext cx="7315200" cy="283464"/>
          </a:xfrm>
          <a:prstGeom prst="rect">
            <a:avLst/>
          </a:prstGeom>
          <a:solidFill>
            <a:srgbClr val="F3F3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09360" y="5550408"/>
            <a:ext cx="5413248" cy="283464"/>
          </a:xfrm>
          <a:prstGeom prst="rect">
            <a:avLst/>
          </a:prstGeom>
          <a:solidFill>
            <a:srgbClr val="1A5D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814048" y="54406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 strong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5910560" y="5440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UTK COUN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22960" y="59436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RTH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2011680" y="59436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Recreation Therapy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09360" y="6053328"/>
            <a:ext cx="7315200" cy="283464"/>
          </a:xfrm>
          <a:prstGeom prst="rect">
            <a:avLst/>
          </a:prstGeom>
          <a:solidFill>
            <a:srgbClr val="F3F3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09360" y="6053328"/>
            <a:ext cx="5340096" cy="283464"/>
          </a:xfrm>
          <a:prstGeom prst="rect">
            <a:avLst/>
          </a:prstGeom>
          <a:solidFill>
            <a:srgbClr val="1A5D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740896" y="5943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 strong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5910560" y="59436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UTK RSM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22960" y="64465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2011680" y="64465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Portuguese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09360" y="6556248"/>
            <a:ext cx="7315200" cy="283464"/>
          </a:xfrm>
          <a:prstGeom prst="rect">
            <a:avLst/>
          </a:prstGeom>
          <a:solidFill>
            <a:srgbClr val="F3F3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09360" y="6556248"/>
            <a:ext cx="5047488" cy="283464"/>
          </a:xfrm>
          <a:prstGeom prst="rect">
            <a:avLst/>
          </a:prstGeom>
          <a:solidFill>
            <a:srgbClr val="1A5D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448288" y="64465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 strong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5910560" y="6446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UTK PORT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22960" y="69494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GRK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2011680" y="69494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Greek (Classical)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09360" y="7059168"/>
            <a:ext cx="7315200" cy="283464"/>
          </a:xfrm>
          <a:prstGeom prst="rect">
            <a:avLst/>
          </a:prstGeom>
          <a:solidFill>
            <a:srgbClr val="F3F3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09360" y="7059168"/>
            <a:ext cx="4974336" cy="283464"/>
          </a:xfrm>
          <a:prstGeom prst="rect">
            <a:avLst/>
          </a:prstGeom>
          <a:solidFill>
            <a:srgbClr val="1A5D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375136" y="69494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 strong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5910560" y="6949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UTK CLAS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22960" y="74523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CED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2011680" y="74523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Education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09360" y="7562088"/>
            <a:ext cx="7315200" cy="283464"/>
          </a:xfrm>
          <a:prstGeom prst="rect">
            <a:avLst/>
          </a:prstGeom>
          <a:solidFill>
            <a:srgbClr val="F3F3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09360" y="7562088"/>
            <a:ext cx="4901184" cy="283464"/>
          </a:xfrm>
          <a:prstGeom prst="rect">
            <a:avLst/>
          </a:prstGeom>
          <a:solidFill>
            <a:srgbClr val="1A5D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1301984" y="74523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 strong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5910560" y="7452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UTK COUN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22960" y="79552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2011680" y="79552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Microbiology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09360" y="8065008"/>
            <a:ext cx="7315200" cy="283464"/>
          </a:xfrm>
          <a:prstGeom prst="rect">
            <a:avLst/>
          </a:prstGeom>
          <a:solidFill>
            <a:srgbClr val="F3F3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309360" y="8065008"/>
            <a:ext cx="4754880" cy="283464"/>
          </a:xfrm>
          <a:prstGeom prst="rect">
            <a:avLst/>
          </a:prstGeom>
          <a:solidFill>
            <a:srgbClr val="1A5D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1155680" y="79552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strong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5910560" y="7955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UTK MICR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22960" y="84582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JST</a:t>
            </a:r>
            <a:endParaRPr lang="en-US" sz="2000" dirty="0"/>
          </a:p>
        </p:txBody>
      </p:sp>
      <p:sp>
        <p:nvSpPr>
          <p:cNvPr id="61" name="Text 59"/>
          <p:cNvSpPr/>
          <p:nvPr/>
        </p:nvSpPr>
        <p:spPr>
          <a:xfrm>
            <a:off x="2011680" y="84582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Jewish Studies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309360" y="8567928"/>
            <a:ext cx="7315200" cy="283464"/>
          </a:xfrm>
          <a:prstGeom prst="rect">
            <a:avLst/>
          </a:prstGeom>
          <a:solidFill>
            <a:srgbClr val="F3F3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309360" y="8567928"/>
            <a:ext cx="4754880" cy="283464"/>
          </a:xfrm>
          <a:prstGeom prst="rect">
            <a:avLst/>
          </a:prstGeom>
          <a:solidFill>
            <a:srgbClr val="1A5D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1155680" y="84582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strong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15910560" y="84582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UTK REST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43200"/>
            <a:ext cx="164592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each school</a:t>
            </a:r>
            <a:endParaRPr lang="en-US" sz="10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distinctive depth.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822960" y="8503920"/>
            <a:ext cx="914400" cy="274320"/>
          </a:xfrm>
          <a:prstGeom prst="rect">
            <a:avLst/>
          </a:prstGeom>
          <a:solidFill>
            <a:srgbClr val="FFC627"/>
          </a:solidFill>
          <a:ln/>
        </p:spPr>
      </p:sp>
      <p:sp>
        <p:nvSpPr>
          <p:cNvPr id="4" name="Text 2"/>
          <p:cNvSpPr/>
          <p:nvPr/>
        </p:nvSpPr>
        <p:spPr>
          <a:xfrm>
            <a:off x="1920240" y="845820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LAYERS 02 + 03  ·  JOINT-DEV SPACE + MARQUEE OFFERINGS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97280" y="731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ASU DISTINCTIVE SUBJECTS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463040"/>
            <a:ext cx="9144000" cy="822960"/>
          </a:xfrm>
          <a:prstGeom prst="rect">
            <a:avLst/>
          </a:prstGeom>
          <a:solidFill>
            <a:srgbClr val="FFC62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80160"/>
            <a:ext cx="1645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ASU's signature depth — not taught at UTK.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1645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Subjects ranked by distinctiveness (unique + moderate share). Each has a meaningful course count and no strong counterpart at UTK.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657600"/>
            <a:ext cx="109728" cy="3200400"/>
          </a:xfrm>
          <a:prstGeom prst="rect">
            <a:avLst/>
          </a:prstGeom>
          <a:solidFill>
            <a:srgbClr val="8C1D40"/>
          </a:solidFill>
          <a:ln/>
        </p:spPr>
      </p:sp>
      <p:sp>
        <p:nvSpPr>
          <p:cNvPr id="8" name="Shape 6"/>
          <p:cNvSpPr/>
          <p:nvPr/>
        </p:nvSpPr>
        <p:spPr>
          <a:xfrm>
            <a:off x="932688" y="3657600"/>
            <a:ext cx="8028432" cy="320040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8862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ATC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657600" y="39776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 Traffic Control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4572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courses  ·  70% distinctive  ·  10% moderate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5577840"/>
            <a:ext cx="7589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Tower Ops, TRACON, IFR Ground School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235440" y="3657600"/>
            <a:ext cx="109728" cy="3200400"/>
          </a:xfrm>
          <a:prstGeom prst="rect">
            <a:avLst/>
          </a:prstGeom>
          <a:solidFill>
            <a:srgbClr val="8C1D40"/>
          </a:solidFill>
          <a:ln/>
        </p:spPr>
      </p:sp>
      <p:sp>
        <p:nvSpPr>
          <p:cNvPr id="14" name="Shape 12"/>
          <p:cNvSpPr/>
          <p:nvPr/>
        </p:nvSpPr>
        <p:spPr>
          <a:xfrm>
            <a:off x="9345168" y="3657600"/>
            <a:ext cx="8028432" cy="320040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5" name="Text 13"/>
          <p:cNvSpPr/>
          <p:nvPr/>
        </p:nvSpPr>
        <p:spPr>
          <a:xfrm>
            <a:off x="9509760" y="38862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DCE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12070080" y="39776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Dance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2070080" y="4572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 courses  ·  10% distinctive  ·  80% moderate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509760" y="5577840"/>
            <a:ext cx="7589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Partner: UTK THEA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2960" y="7086600"/>
            <a:ext cx="109728" cy="3200400"/>
          </a:xfrm>
          <a:prstGeom prst="rect">
            <a:avLst/>
          </a:prstGeom>
          <a:solidFill>
            <a:srgbClr val="8C1D40"/>
          </a:solidFill>
          <a:ln/>
        </p:spPr>
      </p:sp>
      <p:sp>
        <p:nvSpPr>
          <p:cNvPr id="20" name="Shape 18"/>
          <p:cNvSpPr/>
          <p:nvPr/>
        </p:nvSpPr>
        <p:spPr>
          <a:xfrm>
            <a:off x="932688" y="7086600"/>
            <a:ext cx="8028432" cy="320040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73152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BMD</a:t>
            </a:r>
            <a:endParaRPr lang="en-US" sz="5200" dirty="0"/>
          </a:p>
        </p:txBody>
      </p:sp>
      <p:sp>
        <p:nvSpPr>
          <p:cNvPr id="22" name="Text 20"/>
          <p:cNvSpPr/>
          <p:nvPr/>
        </p:nvSpPr>
        <p:spPr>
          <a:xfrm>
            <a:off x="3657600" y="74066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Biomedical Diagnostics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657600" y="8001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courses  ·  26% distinctive  ·  63% moderate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97280" y="9006840"/>
            <a:ext cx="7589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Anatomic, Cytology, Pathology studies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235440" y="7086600"/>
            <a:ext cx="109728" cy="3200400"/>
          </a:xfrm>
          <a:prstGeom prst="rect">
            <a:avLst/>
          </a:prstGeom>
          <a:solidFill>
            <a:srgbClr val="8C1D40"/>
          </a:solidFill>
          <a:ln/>
        </p:spPr>
      </p:sp>
      <p:sp>
        <p:nvSpPr>
          <p:cNvPr id="26" name="Shape 24"/>
          <p:cNvSpPr/>
          <p:nvPr/>
        </p:nvSpPr>
        <p:spPr>
          <a:xfrm>
            <a:off x="9345168" y="7086600"/>
            <a:ext cx="8028432" cy="320040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7" name="Text 25"/>
          <p:cNvSpPr/>
          <p:nvPr/>
        </p:nvSpPr>
        <p:spPr>
          <a:xfrm>
            <a:off x="9509760" y="73152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HCA</a:t>
            </a:r>
            <a:endParaRPr lang="en-US" sz="5200" dirty="0"/>
          </a:p>
        </p:txBody>
      </p:sp>
      <p:sp>
        <p:nvSpPr>
          <p:cNvPr id="28" name="Text 26"/>
          <p:cNvSpPr/>
          <p:nvPr/>
        </p:nvSpPr>
        <p:spPr>
          <a:xfrm>
            <a:off x="12070080" y="74066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Care Admin.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2070080" y="8001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courses  ·  10% distinctive  ·  90% moderate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509760" y="9006840"/>
            <a:ext cx="7589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direct UTK counterpart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22960" y="9601200"/>
            <a:ext cx="1645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more ASU distinctive subjects (ATC runner-ups in aviation, biomimicry, health administration) detailed in the HTML report drill-down.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97280" y="731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UTK DISTINCTIVE SUBJECTS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463040"/>
            <a:ext cx="9144000" cy="822960"/>
          </a:xfrm>
          <a:prstGeom prst="rect">
            <a:avLst/>
          </a:prstGeom>
          <a:solidFill>
            <a:srgbClr val="FFC62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80160"/>
            <a:ext cx="1645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UTK's signature depth — not taught at ASU.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1645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concentration of distinctiveness at UTK is sharper: Music Performance, Nuclear Engineering, and the land-grant agricultural sciences dominate.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657600"/>
            <a:ext cx="109728" cy="2560320"/>
          </a:xfrm>
          <a:prstGeom prst="rect">
            <a:avLst/>
          </a:prstGeom>
          <a:solidFill>
            <a:srgbClr val="FF8200"/>
          </a:solidFill>
          <a:ln/>
        </p:spPr>
      </p:sp>
      <p:sp>
        <p:nvSpPr>
          <p:cNvPr id="8" name="Shape 6"/>
          <p:cNvSpPr/>
          <p:nvPr/>
        </p:nvSpPr>
        <p:spPr>
          <a:xfrm>
            <a:off x="932688" y="3657600"/>
            <a:ext cx="8028432" cy="25603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8404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MUPF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657600" y="39319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 Performance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57600" y="44348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243 courses  ·  49% distinctive  ·  47% moderate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5029200"/>
            <a:ext cx="7589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Ensembles, instrumental studios, conducting. Conservatory-grade.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235440" y="3657600"/>
            <a:ext cx="109728" cy="2560320"/>
          </a:xfrm>
          <a:prstGeom prst="rect">
            <a:avLst/>
          </a:prstGeom>
          <a:solidFill>
            <a:srgbClr val="FF8200"/>
          </a:solidFill>
          <a:ln/>
        </p:spPr>
      </p:sp>
      <p:sp>
        <p:nvSpPr>
          <p:cNvPr id="14" name="Shape 12"/>
          <p:cNvSpPr/>
          <p:nvPr/>
        </p:nvSpPr>
        <p:spPr>
          <a:xfrm>
            <a:off x="9345168" y="3657600"/>
            <a:ext cx="8028432" cy="25603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5" name="Text 13"/>
          <p:cNvSpPr/>
          <p:nvPr/>
        </p:nvSpPr>
        <p:spPr>
          <a:xfrm>
            <a:off x="9509760" y="38404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12070080" y="39319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Engineering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070080" y="44348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 courses  ·  31% distinctive  ·  58% moderate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509760" y="5029200"/>
            <a:ext cx="7589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Radiochemistry, nuclear thermal hydraulics. ASU has no equivalent.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2960" y="6400800"/>
            <a:ext cx="109728" cy="2560320"/>
          </a:xfrm>
          <a:prstGeom prst="rect">
            <a:avLst/>
          </a:prstGeom>
          <a:solidFill>
            <a:srgbClr val="FF8200"/>
          </a:solidFill>
          <a:ln/>
        </p:spPr>
      </p:sp>
      <p:sp>
        <p:nvSpPr>
          <p:cNvPr id="20" name="Shape 18"/>
          <p:cNvSpPr/>
          <p:nvPr/>
        </p:nvSpPr>
        <p:spPr>
          <a:xfrm>
            <a:off x="932688" y="6400800"/>
            <a:ext cx="8028432" cy="25603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65836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PLSC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3657600" y="66751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Sciences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657600" y="7178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courses  ·  17% distinctive  ·  54% moderate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97280" y="7772400"/>
            <a:ext cx="7589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Land-grant depth: cultivation, horticulture, plant breeding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235440" y="6400800"/>
            <a:ext cx="109728" cy="2560320"/>
          </a:xfrm>
          <a:prstGeom prst="rect">
            <a:avLst/>
          </a:prstGeom>
          <a:solidFill>
            <a:srgbClr val="FF8200"/>
          </a:solidFill>
          <a:ln/>
        </p:spPr>
      </p:sp>
      <p:sp>
        <p:nvSpPr>
          <p:cNvPr id="26" name="Shape 24"/>
          <p:cNvSpPr/>
          <p:nvPr/>
        </p:nvSpPr>
        <p:spPr>
          <a:xfrm>
            <a:off x="9345168" y="6400800"/>
            <a:ext cx="8028432" cy="25603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7" name="Text 25"/>
          <p:cNvSpPr/>
          <p:nvPr/>
        </p:nvSpPr>
        <p:spPr>
          <a:xfrm>
            <a:off x="9509760" y="65836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ANSC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12070080" y="66751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Animal Sciences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2070080" y="7178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 courses  ·  23% distinctive  ·  55% moderate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509760" y="7772400"/>
            <a:ext cx="7589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Large-animal husbandry, reproduction, nutrition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22960" y="9144000"/>
            <a:ext cx="109728" cy="2560320"/>
          </a:xfrm>
          <a:prstGeom prst="rect">
            <a:avLst/>
          </a:prstGeom>
          <a:solidFill>
            <a:srgbClr val="FF8200"/>
          </a:solidFill>
          <a:ln/>
        </p:spPr>
      </p:sp>
      <p:sp>
        <p:nvSpPr>
          <p:cNvPr id="32" name="Shape 30"/>
          <p:cNvSpPr/>
          <p:nvPr/>
        </p:nvSpPr>
        <p:spPr>
          <a:xfrm>
            <a:off x="932688" y="9144000"/>
            <a:ext cx="8028432" cy="25603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3" name="Text 31"/>
          <p:cNvSpPr/>
          <p:nvPr/>
        </p:nvSpPr>
        <p:spPr>
          <a:xfrm>
            <a:off x="1097280" y="9326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VMP</a:t>
            </a:r>
            <a:endParaRPr lang="en-US" sz="4000" dirty="0"/>
          </a:p>
        </p:txBody>
      </p:sp>
      <p:sp>
        <p:nvSpPr>
          <p:cNvPr id="34" name="Text 32"/>
          <p:cNvSpPr/>
          <p:nvPr/>
        </p:nvSpPr>
        <p:spPr>
          <a:xfrm>
            <a:off x="3657600" y="9418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Vet. Medicine Pathology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3657600" y="9921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 courses  ·  16% distinctive  ·  79% moderate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97280" y="10515600"/>
            <a:ext cx="7589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Veterinary specialty; ASU ABS partial partner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235440" y="9144000"/>
            <a:ext cx="109728" cy="2560320"/>
          </a:xfrm>
          <a:prstGeom prst="rect">
            <a:avLst/>
          </a:prstGeom>
          <a:solidFill>
            <a:srgbClr val="FF8200"/>
          </a:solidFill>
          <a:ln/>
        </p:spPr>
      </p:sp>
      <p:sp>
        <p:nvSpPr>
          <p:cNvPr id="38" name="Shape 36"/>
          <p:cNvSpPr/>
          <p:nvPr/>
        </p:nvSpPr>
        <p:spPr>
          <a:xfrm>
            <a:off x="9345168" y="9144000"/>
            <a:ext cx="8028432" cy="25603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9" name="Text 37"/>
          <p:cNvSpPr/>
          <p:nvPr/>
        </p:nvSpPr>
        <p:spPr>
          <a:xfrm>
            <a:off x="9509760" y="9326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FORS</a:t>
            </a:r>
            <a:endParaRPr lang="en-US" sz="4000" dirty="0"/>
          </a:p>
        </p:txBody>
      </p:sp>
      <p:sp>
        <p:nvSpPr>
          <p:cNvPr id="40" name="Text 38"/>
          <p:cNvSpPr/>
          <p:nvPr/>
        </p:nvSpPr>
        <p:spPr>
          <a:xfrm>
            <a:off x="12070080" y="9418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Forestry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12070080" y="9921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courses  ·  16% distinctive  ·  63% moderate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509760" y="10515600"/>
            <a:ext cx="7589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Silviculture, urban forestry, arboriculture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22960" y="11887200"/>
            <a:ext cx="109728" cy="2560320"/>
          </a:xfrm>
          <a:prstGeom prst="rect">
            <a:avLst/>
          </a:prstGeom>
          <a:solidFill>
            <a:srgbClr val="FF8200"/>
          </a:solidFill>
          <a:ln/>
        </p:spPr>
      </p:sp>
      <p:sp>
        <p:nvSpPr>
          <p:cNvPr id="44" name="Shape 42"/>
          <p:cNvSpPr/>
          <p:nvPr/>
        </p:nvSpPr>
        <p:spPr>
          <a:xfrm>
            <a:off x="932688" y="11887200"/>
            <a:ext cx="8028432" cy="25603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5" name="Text 43"/>
          <p:cNvSpPr/>
          <p:nvPr/>
        </p:nvSpPr>
        <p:spPr>
          <a:xfrm>
            <a:off x="1097280" y="120700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FDSC</a:t>
            </a:r>
            <a:endParaRPr lang="en-US" sz="4000" dirty="0"/>
          </a:p>
        </p:txBody>
      </p:sp>
      <p:sp>
        <p:nvSpPr>
          <p:cNvPr id="46" name="Text 44"/>
          <p:cNvSpPr/>
          <p:nvPr/>
        </p:nvSpPr>
        <p:spPr>
          <a:xfrm>
            <a:off x="3657600" y="12161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Science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3657600" y="1266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courses  ·  17% distinctive  ·  65% moderate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097280" y="13258800"/>
            <a:ext cx="7589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Vines and Wines, food chemistry, regulation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9235440" y="11887200"/>
            <a:ext cx="109728" cy="2560320"/>
          </a:xfrm>
          <a:prstGeom prst="rect">
            <a:avLst/>
          </a:prstGeom>
          <a:solidFill>
            <a:srgbClr val="FF8200"/>
          </a:solidFill>
          <a:ln/>
        </p:spPr>
      </p:sp>
      <p:sp>
        <p:nvSpPr>
          <p:cNvPr id="50" name="Shape 48"/>
          <p:cNvSpPr/>
          <p:nvPr/>
        </p:nvSpPr>
        <p:spPr>
          <a:xfrm>
            <a:off x="9345168" y="11887200"/>
            <a:ext cx="8028432" cy="25603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51" name="Text 49"/>
          <p:cNvSpPr/>
          <p:nvPr/>
        </p:nvSpPr>
        <p:spPr>
          <a:xfrm>
            <a:off x="9509760" y="120700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MUEN</a:t>
            </a:r>
            <a:endParaRPr lang="en-US" sz="4000" dirty="0"/>
          </a:p>
        </p:txBody>
      </p:sp>
      <p:sp>
        <p:nvSpPr>
          <p:cNvPr id="52" name="Text 50"/>
          <p:cNvSpPr/>
          <p:nvPr/>
        </p:nvSpPr>
        <p:spPr>
          <a:xfrm>
            <a:off x="12070080" y="12161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 Ensembles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12070080" y="1266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 courses  ·  14% distinctive  ·  60% moderate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509760" y="13258800"/>
            <a:ext cx="7589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Orchestra, band, choir, chamber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C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97280" y="731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AD7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GEN-ED PHILOSOPHIES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463040"/>
            <a:ext cx="10058400" cy="822960"/>
          </a:xfrm>
          <a:prstGeom prst="rect">
            <a:avLst/>
          </a:prstGeom>
          <a:solidFill>
            <a:srgbClr val="FFC62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80160"/>
            <a:ext cx="1645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bets on what gen-ed is for.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1645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ASU tags general-ed along traditional discipline axes. UTK's VolCore leads with pedagogy — Engaged Inquiries is tagged more widely than any discipline category. A real divergence that creates room for a co-designed credential.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114800"/>
            <a:ext cx="8046720" cy="5029200"/>
          </a:xfrm>
          <a:prstGeom prst="rect">
            <a:avLst/>
          </a:prstGeom>
          <a:solidFill>
            <a:srgbClr val="FFFAEE"/>
          </a:solidFill>
          <a:ln w="25400">
            <a:solidFill>
              <a:srgbClr val="FFC6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ASU GENERAL STUDIES (GOLD)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4754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2,455 courses tagged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97280" y="5349240"/>
            <a:ext cx="822960" cy="365760"/>
          </a:xfrm>
          <a:prstGeom prst="rect">
            <a:avLst/>
          </a:prstGeom>
          <a:solidFill>
            <a:srgbClr val="8C1D40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53492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03120" y="5303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awareness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2320" y="5303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AD7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575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97280" y="5897880"/>
            <a:ext cx="822960" cy="365760"/>
          </a:xfrm>
          <a:prstGeom prst="rect">
            <a:avLst/>
          </a:prstGeom>
          <a:solidFill>
            <a:srgbClr val="8C1D40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58978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03120" y="5852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Social-Behavioral Sci.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32320" y="5852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AD7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97280" y="6446520"/>
            <a:ext cx="822960" cy="365760"/>
          </a:xfrm>
          <a:prstGeom prst="rect">
            <a:avLst/>
          </a:prstGeom>
          <a:solidFill>
            <a:srgbClr val="8C1D40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64465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103120" y="6400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32320" y="6400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AD7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507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97280" y="6995160"/>
            <a:ext cx="822960" cy="365760"/>
          </a:xfrm>
          <a:prstGeom prst="rect">
            <a:avLst/>
          </a:prstGeom>
          <a:solidFill>
            <a:srgbClr val="8C1D40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6995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103120" y="69494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Literacy &amp; Critical Inquiry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32320" y="6949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AD7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440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97280" y="7543800"/>
            <a:ext cx="822960" cy="365760"/>
          </a:xfrm>
          <a:prstGeom prst="rect">
            <a:avLst/>
          </a:prstGeom>
          <a:solidFill>
            <a:srgbClr val="8C1D40"/>
          </a:solidFill>
          <a:ln/>
        </p:spPr>
      </p:sp>
      <p:sp>
        <p:nvSpPr>
          <p:cNvPr id="27" name="Text 25"/>
          <p:cNvSpPr/>
          <p:nvPr/>
        </p:nvSpPr>
        <p:spPr>
          <a:xfrm>
            <a:off x="1097280" y="75438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103120" y="7498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Awareness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32320" y="7498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AD7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322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97280" y="8092440"/>
            <a:ext cx="822960" cy="365760"/>
          </a:xfrm>
          <a:prstGeom prst="rect">
            <a:avLst/>
          </a:prstGeom>
          <a:solidFill>
            <a:srgbClr val="8C1D40"/>
          </a:solidFill>
          <a:ln/>
        </p:spPr>
      </p:sp>
      <p:sp>
        <p:nvSpPr>
          <p:cNvPr id="31" name="Text 29"/>
          <p:cNvSpPr/>
          <p:nvPr/>
        </p:nvSpPr>
        <p:spPr>
          <a:xfrm>
            <a:off x="1097280" y="80924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103120" y="8046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Cultural Diversity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32320" y="8046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AD7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294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326880" y="4114800"/>
            <a:ext cx="8046720" cy="5029200"/>
          </a:xfrm>
          <a:prstGeom prst="rect">
            <a:avLst/>
          </a:prstGeom>
          <a:solidFill>
            <a:srgbClr val="FFF6EB"/>
          </a:solidFill>
          <a:ln w="25400">
            <a:solidFill>
              <a:srgbClr val="FF82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0120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UTK VOLUNTEER CORE (VOLCORE)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601200" y="4754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1,113 courses tagged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601200" y="5349240"/>
            <a:ext cx="822960" cy="365760"/>
          </a:xfrm>
          <a:prstGeom prst="rect">
            <a:avLst/>
          </a:prstGeom>
          <a:solidFill>
            <a:srgbClr val="FF8200"/>
          </a:solidFill>
          <a:ln/>
        </p:spPr>
      </p:sp>
      <p:sp>
        <p:nvSpPr>
          <p:cNvPr id="38" name="Text 36"/>
          <p:cNvSpPr/>
          <p:nvPr/>
        </p:nvSpPr>
        <p:spPr>
          <a:xfrm>
            <a:off x="9601200" y="53492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607040" y="5303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Engaged Inquiries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5636240" y="5303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232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601200" y="5897880"/>
            <a:ext cx="822960" cy="365760"/>
          </a:xfrm>
          <a:prstGeom prst="rect">
            <a:avLst/>
          </a:prstGeom>
          <a:solidFill>
            <a:srgbClr val="191919"/>
          </a:solidFill>
          <a:ln/>
        </p:spPr>
      </p:sp>
      <p:sp>
        <p:nvSpPr>
          <p:cNvPr id="42" name="Text 40"/>
          <p:cNvSpPr/>
          <p:nvPr/>
        </p:nvSpPr>
        <p:spPr>
          <a:xfrm>
            <a:off x="9601200" y="58978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0607040" y="5852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Arts &amp; Humanities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5636240" y="5852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191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601200" y="6446520"/>
            <a:ext cx="822960" cy="365760"/>
          </a:xfrm>
          <a:prstGeom prst="rect">
            <a:avLst/>
          </a:prstGeom>
          <a:solidFill>
            <a:srgbClr val="191919"/>
          </a:solidFill>
          <a:ln/>
        </p:spPr>
      </p:sp>
      <p:sp>
        <p:nvSpPr>
          <p:cNvPr id="46" name="Text 44"/>
          <p:cNvSpPr/>
          <p:nvPr/>
        </p:nvSpPr>
        <p:spPr>
          <a:xfrm>
            <a:off x="9601200" y="64465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GCI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0607040" y="6400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Citizenship — Intl.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5636240" y="6400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154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9601200" y="6995160"/>
            <a:ext cx="822960" cy="365760"/>
          </a:xfrm>
          <a:prstGeom prst="rect">
            <a:avLst/>
          </a:prstGeom>
          <a:solidFill>
            <a:srgbClr val="FF8200"/>
          </a:solidFill>
          <a:ln/>
        </p:spPr>
      </p:sp>
      <p:sp>
        <p:nvSpPr>
          <p:cNvPr id="50" name="Text 48"/>
          <p:cNvSpPr/>
          <p:nvPr/>
        </p:nvSpPr>
        <p:spPr>
          <a:xfrm>
            <a:off x="9601200" y="6995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AOC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0607040" y="69494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Oral Communication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5636240" y="6949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9601200" y="7543800"/>
            <a:ext cx="822960" cy="365760"/>
          </a:xfrm>
          <a:prstGeom prst="rect">
            <a:avLst/>
          </a:prstGeom>
          <a:solidFill>
            <a:srgbClr val="191919"/>
          </a:solidFill>
          <a:ln/>
        </p:spPr>
      </p:sp>
      <p:sp>
        <p:nvSpPr>
          <p:cNvPr id="54" name="Text 52"/>
          <p:cNvSpPr/>
          <p:nvPr/>
        </p:nvSpPr>
        <p:spPr>
          <a:xfrm>
            <a:off x="9601200" y="75438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10607040" y="7498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Sciences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5636240" y="7498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9601200" y="8092440"/>
            <a:ext cx="822960" cy="365760"/>
          </a:xfrm>
          <a:prstGeom prst="rect">
            <a:avLst/>
          </a:prstGeom>
          <a:solidFill>
            <a:srgbClr val="191919"/>
          </a:solidFill>
          <a:ln/>
        </p:spPr>
      </p:sp>
      <p:sp>
        <p:nvSpPr>
          <p:cNvPr id="58" name="Text 56"/>
          <p:cNvSpPr/>
          <p:nvPr/>
        </p:nvSpPr>
        <p:spPr>
          <a:xfrm>
            <a:off x="9601200" y="80924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10607040" y="8046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Communication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5636240" y="8046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9601200" y="8503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UTK's top tag is pedagogical (Engaged Inquiries), not disciplinary.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C1D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973438"/>
            <a:ext cx="73152" cy="6313562"/>
          </a:xfrm>
          <a:prstGeom prst="rect">
            <a:avLst/>
          </a:prstGeom>
          <a:solidFill>
            <a:srgbClr val="A0375C">
              <a:alpha val="53224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5581365"/>
            <a:ext cx="73152" cy="4705635"/>
          </a:xfrm>
          <a:prstGeom prst="rect">
            <a:avLst/>
          </a:prstGeom>
          <a:solidFill>
            <a:srgbClr val="A0375C">
              <a:alpha val="40342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252668"/>
            <a:ext cx="73152" cy="8034332"/>
          </a:xfrm>
          <a:prstGeom prst="rect">
            <a:avLst/>
          </a:prstGeom>
          <a:solidFill>
            <a:srgbClr val="A0375C">
              <a:alpha val="57562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997111"/>
            <a:ext cx="73152" cy="9289889"/>
          </a:xfrm>
          <a:prstGeom prst="rect">
            <a:avLst/>
          </a:prstGeom>
          <a:solidFill>
            <a:srgbClr val="A0375C">
              <a:alpha val="49133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3378924"/>
            <a:ext cx="73152" cy="6908076"/>
          </a:xfrm>
          <a:prstGeom prst="rect">
            <a:avLst/>
          </a:prstGeom>
          <a:solidFill>
            <a:srgbClr val="A0375C">
              <a:alpha val="45974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3807138"/>
            <a:ext cx="73152" cy="6479862"/>
          </a:xfrm>
          <a:prstGeom prst="rect">
            <a:avLst/>
          </a:prstGeom>
          <a:solidFill>
            <a:srgbClr val="A0375C">
              <a:alpha val="68331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2320534"/>
            <a:ext cx="73152" cy="7966466"/>
          </a:xfrm>
          <a:prstGeom prst="rect">
            <a:avLst/>
          </a:prstGeom>
          <a:solidFill>
            <a:srgbClr val="A0375C">
              <a:alpha val="47857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600200" y="3002792"/>
            <a:ext cx="73152" cy="7284208"/>
          </a:xfrm>
          <a:prstGeom prst="rect">
            <a:avLst/>
          </a:prstGeom>
          <a:solidFill>
            <a:srgbClr val="A0375C">
              <a:alpha val="4151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828800" y="6260690"/>
            <a:ext cx="73152" cy="4026310"/>
          </a:xfrm>
          <a:prstGeom prst="rect">
            <a:avLst/>
          </a:prstGeom>
          <a:solidFill>
            <a:srgbClr val="A0375C">
              <a:alpha val="43478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057400" y="3201792"/>
            <a:ext cx="73152" cy="7085208"/>
          </a:xfrm>
          <a:prstGeom prst="rect">
            <a:avLst/>
          </a:prstGeom>
          <a:solidFill>
            <a:srgbClr val="A0375C">
              <a:alpha val="546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286000" y="3560642"/>
            <a:ext cx="73152" cy="6726358"/>
          </a:xfrm>
          <a:prstGeom prst="rect">
            <a:avLst/>
          </a:prstGeom>
          <a:solidFill>
            <a:srgbClr val="A0375C">
              <a:alpha val="61081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514600" y="1322739"/>
            <a:ext cx="73152" cy="8964261"/>
          </a:xfrm>
          <a:prstGeom prst="rect">
            <a:avLst/>
          </a:prstGeom>
          <a:solidFill>
            <a:srgbClr val="A0375C">
              <a:alpha val="44425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0" y="5661033"/>
            <a:ext cx="73152" cy="4625967"/>
          </a:xfrm>
          <a:prstGeom prst="rect">
            <a:avLst/>
          </a:prstGeom>
          <a:solidFill>
            <a:srgbClr val="A0375C">
              <a:alpha val="67245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971800" y="6976800"/>
            <a:ext cx="73152" cy="3310200"/>
          </a:xfrm>
          <a:prstGeom prst="rect">
            <a:avLst/>
          </a:prstGeom>
          <a:solidFill>
            <a:srgbClr val="A0375C">
              <a:alpha val="67284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200400" y="2928101"/>
            <a:ext cx="73152" cy="7358899"/>
          </a:xfrm>
          <a:prstGeom prst="rect">
            <a:avLst/>
          </a:prstGeom>
          <a:solidFill>
            <a:srgbClr val="A0375C">
              <a:alpha val="46263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429000" y="975134"/>
            <a:ext cx="73152" cy="9311866"/>
          </a:xfrm>
          <a:prstGeom prst="rect">
            <a:avLst/>
          </a:prstGeom>
          <a:solidFill>
            <a:srgbClr val="A0375C">
              <a:alpha val="54335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0" y="97044"/>
            <a:ext cx="73152" cy="10189956"/>
          </a:xfrm>
          <a:prstGeom prst="rect">
            <a:avLst/>
          </a:prstGeom>
          <a:solidFill>
            <a:srgbClr val="A0375C">
              <a:alpha val="52485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886200" y="582320"/>
            <a:ext cx="73152" cy="9704680"/>
          </a:xfrm>
          <a:prstGeom prst="rect">
            <a:avLst/>
          </a:prstGeom>
          <a:solidFill>
            <a:srgbClr val="A0375C">
              <a:alpha val="40098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114800" y="4766055"/>
            <a:ext cx="73152" cy="5520945"/>
          </a:xfrm>
          <a:prstGeom prst="rect">
            <a:avLst/>
          </a:prstGeom>
          <a:solidFill>
            <a:srgbClr val="A0375C">
              <a:alpha val="4847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343400" y="701005"/>
            <a:ext cx="73152" cy="9585995"/>
          </a:xfrm>
          <a:prstGeom prst="rect">
            <a:avLst/>
          </a:prstGeom>
          <a:solidFill>
            <a:srgbClr val="A0375C">
              <a:alpha val="49017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0" y="4477380"/>
            <a:ext cx="73152" cy="5809620"/>
          </a:xfrm>
          <a:prstGeom prst="rect">
            <a:avLst/>
          </a:prstGeom>
          <a:solidFill>
            <a:srgbClr val="A0375C">
              <a:alpha val="64972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800600" y="549441"/>
            <a:ext cx="73152" cy="9737559"/>
          </a:xfrm>
          <a:prstGeom prst="rect">
            <a:avLst/>
          </a:prstGeom>
          <a:solidFill>
            <a:srgbClr val="A0375C">
              <a:alpha val="54975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0" y="512626"/>
            <a:ext cx="73152" cy="9774374"/>
          </a:xfrm>
          <a:prstGeom prst="rect">
            <a:avLst/>
          </a:prstGeom>
          <a:solidFill>
            <a:srgbClr val="A0375C">
              <a:alpha val="56655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257800" y="5775861"/>
            <a:ext cx="73152" cy="4511139"/>
          </a:xfrm>
          <a:prstGeom prst="rect">
            <a:avLst/>
          </a:prstGeom>
          <a:solidFill>
            <a:srgbClr val="A0375C">
              <a:alpha val="56553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0" y="2964825"/>
            <a:ext cx="73152" cy="7322175"/>
          </a:xfrm>
          <a:prstGeom prst="rect">
            <a:avLst/>
          </a:prstGeom>
          <a:solidFill>
            <a:srgbClr val="A0375C">
              <a:alpha val="41902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715000" y="1848652"/>
            <a:ext cx="73152" cy="8438348"/>
          </a:xfrm>
          <a:prstGeom prst="rect">
            <a:avLst/>
          </a:prstGeom>
          <a:solidFill>
            <a:srgbClr val="A0375C">
              <a:alpha val="54992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943600" y="4142149"/>
            <a:ext cx="73152" cy="6144851"/>
          </a:xfrm>
          <a:prstGeom prst="rect">
            <a:avLst/>
          </a:prstGeom>
          <a:solidFill>
            <a:srgbClr val="A0375C">
              <a:alpha val="4781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172200" y="6283848"/>
            <a:ext cx="73152" cy="4003152"/>
          </a:xfrm>
          <a:prstGeom prst="rect">
            <a:avLst/>
          </a:prstGeom>
          <a:solidFill>
            <a:srgbClr val="A0375C">
              <a:alpha val="53947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400800" y="6920400"/>
            <a:ext cx="73152" cy="3366600"/>
          </a:xfrm>
          <a:prstGeom prst="rect">
            <a:avLst/>
          </a:prstGeom>
          <a:solidFill>
            <a:srgbClr val="A0375C">
              <a:alpha val="58571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629400" y="1908265"/>
            <a:ext cx="73152" cy="8378735"/>
          </a:xfrm>
          <a:prstGeom prst="rect">
            <a:avLst/>
          </a:prstGeom>
          <a:solidFill>
            <a:srgbClr val="A0375C">
              <a:alpha val="62189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858000" y="2131756"/>
            <a:ext cx="73152" cy="8155244"/>
          </a:xfrm>
          <a:prstGeom prst="rect">
            <a:avLst/>
          </a:prstGeom>
          <a:solidFill>
            <a:srgbClr val="A0375C">
              <a:alpha val="58444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086600" y="2669551"/>
            <a:ext cx="73152" cy="7617449"/>
          </a:xfrm>
          <a:prstGeom prst="rect">
            <a:avLst/>
          </a:prstGeom>
          <a:solidFill>
            <a:srgbClr val="A0375C">
              <a:alpha val="52527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315200" y="2374127"/>
            <a:ext cx="73152" cy="7912873"/>
          </a:xfrm>
          <a:prstGeom prst="rect">
            <a:avLst/>
          </a:prstGeom>
          <a:solidFill>
            <a:srgbClr val="A0375C">
              <a:alpha val="60197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543800" y="4150585"/>
            <a:ext cx="73152" cy="6136415"/>
          </a:xfrm>
          <a:prstGeom prst="rect">
            <a:avLst/>
          </a:prstGeom>
          <a:solidFill>
            <a:srgbClr val="A0375C">
              <a:alpha val="67412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772400" y="1717894"/>
            <a:ext cx="73152" cy="8569106"/>
          </a:xfrm>
          <a:prstGeom prst="rect">
            <a:avLst/>
          </a:prstGeom>
          <a:solidFill>
            <a:srgbClr val="A0375C">
              <a:alpha val="64892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001000" y="1341739"/>
            <a:ext cx="73152" cy="8945261"/>
          </a:xfrm>
          <a:prstGeom prst="rect">
            <a:avLst/>
          </a:prstGeom>
          <a:solidFill>
            <a:srgbClr val="A0375C">
              <a:alpha val="48258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229600" y="5236757"/>
            <a:ext cx="73152" cy="5050243"/>
          </a:xfrm>
          <a:prstGeom prst="rect">
            <a:avLst/>
          </a:prstGeom>
          <a:solidFill>
            <a:srgbClr val="A0375C">
              <a:alpha val="51671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458200" y="5600674"/>
            <a:ext cx="73152" cy="4686326"/>
          </a:xfrm>
          <a:prstGeom prst="rect">
            <a:avLst/>
          </a:prstGeom>
          <a:solidFill>
            <a:srgbClr val="A0375C">
              <a:alpha val="60058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686800" y="4186152"/>
            <a:ext cx="73152" cy="6100848"/>
          </a:xfrm>
          <a:prstGeom prst="rect">
            <a:avLst/>
          </a:prstGeom>
          <a:solidFill>
            <a:srgbClr val="A0375C">
              <a:alpha val="41453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915400" y="5184215"/>
            <a:ext cx="73152" cy="5102785"/>
          </a:xfrm>
          <a:prstGeom prst="rect">
            <a:avLst/>
          </a:prstGeom>
          <a:solidFill>
            <a:srgbClr val="A0375C">
              <a:alpha val="61731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9144000" y="7194937"/>
            <a:ext cx="73152" cy="3092063"/>
          </a:xfrm>
          <a:prstGeom prst="rect">
            <a:avLst/>
          </a:prstGeom>
          <a:solidFill>
            <a:srgbClr val="A0375C">
              <a:alpha val="60339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9372600" y="4301966"/>
            <a:ext cx="73152" cy="5985034"/>
          </a:xfrm>
          <a:prstGeom prst="rect">
            <a:avLst/>
          </a:prstGeom>
          <a:solidFill>
            <a:srgbClr val="A0375C">
              <a:alpha val="47148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9601200" y="7167629"/>
            <a:ext cx="73152" cy="3119371"/>
          </a:xfrm>
          <a:prstGeom prst="rect">
            <a:avLst/>
          </a:prstGeom>
          <a:solidFill>
            <a:srgbClr val="A0375C">
              <a:alpha val="6715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9829800" y="1691298"/>
            <a:ext cx="73152" cy="8595702"/>
          </a:xfrm>
          <a:prstGeom prst="rect">
            <a:avLst/>
          </a:prstGeom>
          <a:solidFill>
            <a:srgbClr val="A0375C">
              <a:alpha val="47683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0058400" y="1983600"/>
            <a:ext cx="73152" cy="8303400"/>
          </a:xfrm>
          <a:prstGeom prst="rect">
            <a:avLst/>
          </a:prstGeom>
          <a:solidFill>
            <a:srgbClr val="A0375C">
              <a:alpha val="55411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0287000" y="77155"/>
            <a:ext cx="73152" cy="10209845"/>
          </a:xfrm>
          <a:prstGeom prst="rect">
            <a:avLst/>
          </a:prstGeom>
          <a:solidFill>
            <a:srgbClr val="A0375C">
              <a:alpha val="58759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0515600" y="748461"/>
            <a:ext cx="73152" cy="9538539"/>
          </a:xfrm>
          <a:prstGeom prst="rect">
            <a:avLst/>
          </a:prstGeom>
          <a:solidFill>
            <a:srgbClr val="A0375C">
              <a:alpha val="4572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0744200" y="2805202"/>
            <a:ext cx="73152" cy="7481798"/>
          </a:xfrm>
          <a:prstGeom prst="rect">
            <a:avLst/>
          </a:prstGeom>
          <a:solidFill>
            <a:srgbClr val="A0375C">
              <a:alpha val="52703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0972800" y="1206998"/>
            <a:ext cx="73152" cy="9080002"/>
          </a:xfrm>
          <a:prstGeom prst="rect">
            <a:avLst/>
          </a:prstGeom>
          <a:solidFill>
            <a:srgbClr val="A0375C">
              <a:alpha val="54168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1201400" y="2255266"/>
            <a:ext cx="73152" cy="8031734"/>
          </a:xfrm>
          <a:prstGeom prst="rect">
            <a:avLst/>
          </a:prstGeom>
          <a:solidFill>
            <a:srgbClr val="A0375C">
              <a:alpha val="42908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1430000" y="6430885"/>
            <a:ext cx="73152" cy="3856115"/>
          </a:xfrm>
          <a:prstGeom prst="rect">
            <a:avLst/>
          </a:prstGeom>
          <a:solidFill>
            <a:srgbClr val="A0375C">
              <a:alpha val="59929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1658600" y="2146909"/>
            <a:ext cx="73152" cy="8140091"/>
          </a:xfrm>
          <a:prstGeom prst="rect">
            <a:avLst/>
          </a:prstGeom>
          <a:solidFill>
            <a:srgbClr val="A0375C">
              <a:alpha val="55956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1887200" y="3614819"/>
            <a:ext cx="73152" cy="6672181"/>
          </a:xfrm>
          <a:prstGeom prst="rect">
            <a:avLst/>
          </a:prstGeom>
          <a:solidFill>
            <a:srgbClr val="A0375C">
              <a:alpha val="67016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2115800" y="655655"/>
            <a:ext cx="73152" cy="9631345"/>
          </a:xfrm>
          <a:prstGeom prst="rect">
            <a:avLst/>
          </a:prstGeom>
          <a:solidFill>
            <a:srgbClr val="A0375C">
              <a:alpha val="68422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2344400" y="5028997"/>
            <a:ext cx="73152" cy="5258003"/>
          </a:xfrm>
          <a:prstGeom prst="rect">
            <a:avLst/>
          </a:prstGeom>
          <a:solidFill>
            <a:srgbClr val="A0375C">
              <a:alpha val="68026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2573000" y="5075552"/>
            <a:ext cx="73152" cy="5211448"/>
          </a:xfrm>
          <a:prstGeom prst="rect">
            <a:avLst/>
          </a:prstGeom>
          <a:solidFill>
            <a:srgbClr val="A0375C">
              <a:alpha val="48327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2801600" y="5193669"/>
            <a:ext cx="73152" cy="5093331"/>
          </a:xfrm>
          <a:prstGeom prst="rect">
            <a:avLst/>
          </a:prstGeom>
          <a:solidFill>
            <a:srgbClr val="A0375C">
              <a:alpha val="57445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3030200" y="6229850"/>
            <a:ext cx="73152" cy="4057150"/>
          </a:xfrm>
          <a:prstGeom prst="rect">
            <a:avLst/>
          </a:prstGeom>
          <a:solidFill>
            <a:srgbClr val="A0375C">
              <a:alpha val="51911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3258800" y="4981253"/>
            <a:ext cx="73152" cy="5305747"/>
          </a:xfrm>
          <a:prstGeom prst="rect">
            <a:avLst/>
          </a:prstGeom>
          <a:solidFill>
            <a:srgbClr val="A0375C">
              <a:alpha val="49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3487400" y="4206768"/>
            <a:ext cx="73152" cy="6080232"/>
          </a:xfrm>
          <a:prstGeom prst="rect">
            <a:avLst/>
          </a:prstGeom>
          <a:solidFill>
            <a:srgbClr val="A0375C">
              <a:alpha val="42827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3716000" y="4886821"/>
            <a:ext cx="73152" cy="5400179"/>
          </a:xfrm>
          <a:prstGeom prst="rect">
            <a:avLst/>
          </a:prstGeom>
          <a:solidFill>
            <a:srgbClr val="A0375C">
              <a:alpha val="46518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13944600" y="2734900"/>
            <a:ext cx="73152" cy="7552100"/>
          </a:xfrm>
          <a:prstGeom prst="rect">
            <a:avLst/>
          </a:prstGeom>
          <a:solidFill>
            <a:srgbClr val="A0375C">
              <a:alpha val="48541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4173200" y="466178"/>
            <a:ext cx="73152" cy="9820822"/>
          </a:xfrm>
          <a:prstGeom prst="rect">
            <a:avLst/>
          </a:prstGeom>
          <a:solidFill>
            <a:srgbClr val="A0375C">
              <a:alpha val="4059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14401800" y="3703283"/>
            <a:ext cx="73152" cy="6583717"/>
          </a:xfrm>
          <a:prstGeom prst="rect">
            <a:avLst/>
          </a:prstGeom>
          <a:solidFill>
            <a:srgbClr val="A0375C">
              <a:alpha val="57571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14630400" y="720895"/>
            <a:ext cx="73152" cy="9566105"/>
          </a:xfrm>
          <a:prstGeom prst="rect">
            <a:avLst/>
          </a:prstGeom>
          <a:solidFill>
            <a:srgbClr val="A0375C">
              <a:alpha val="4133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14859000" y="2083385"/>
            <a:ext cx="73152" cy="8203615"/>
          </a:xfrm>
          <a:prstGeom prst="rect">
            <a:avLst/>
          </a:prstGeom>
          <a:solidFill>
            <a:srgbClr val="A0375C">
              <a:alpha val="57689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5087600" y="4004271"/>
            <a:ext cx="73152" cy="6282729"/>
          </a:xfrm>
          <a:prstGeom prst="rect">
            <a:avLst/>
          </a:prstGeom>
          <a:solidFill>
            <a:srgbClr val="A0375C">
              <a:alpha val="55855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15316200" y="3606146"/>
            <a:ext cx="73152" cy="6680854"/>
          </a:xfrm>
          <a:prstGeom prst="rect">
            <a:avLst/>
          </a:prstGeom>
          <a:solidFill>
            <a:srgbClr val="A0375C">
              <a:alpha val="46771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15544800" y="5269185"/>
            <a:ext cx="73152" cy="5017815"/>
          </a:xfrm>
          <a:prstGeom prst="rect">
            <a:avLst/>
          </a:prstGeom>
          <a:solidFill>
            <a:srgbClr val="A0375C">
              <a:alpha val="55726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15773400" y="1016896"/>
            <a:ext cx="73152" cy="9270104"/>
          </a:xfrm>
          <a:prstGeom prst="rect">
            <a:avLst/>
          </a:prstGeom>
          <a:solidFill>
            <a:srgbClr val="A0375C">
              <a:alpha val="6714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16002000" y="3145384"/>
            <a:ext cx="73152" cy="7141616"/>
          </a:xfrm>
          <a:prstGeom prst="rect">
            <a:avLst/>
          </a:prstGeom>
          <a:solidFill>
            <a:srgbClr val="A0375C">
              <a:alpha val="57504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16230600" y="6379446"/>
            <a:ext cx="73152" cy="3907554"/>
          </a:xfrm>
          <a:prstGeom prst="rect">
            <a:avLst/>
          </a:prstGeom>
          <a:solidFill>
            <a:srgbClr val="A0375C">
              <a:alpha val="55324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16459200" y="6453539"/>
            <a:ext cx="73152" cy="3833461"/>
          </a:xfrm>
          <a:prstGeom prst="rect">
            <a:avLst/>
          </a:prstGeom>
          <a:solidFill>
            <a:srgbClr val="A0375C">
              <a:alpha val="6609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16687800" y="288081"/>
            <a:ext cx="73152" cy="9998919"/>
          </a:xfrm>
          <a:prstGeom prst="rect">
            <a:avLst/>
          </a:prstGeom>
          <a:solidFill>
            <a:srgbClr val="A0375C">
              <a:alpha val="52336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16916400" y="3717609"/>
            <a:ext cx="73152" cy="6569391"/>
          </a:xfrm>
          <a:prstGeom prst="rect">
            <a:avLst/>
          </a:prstGeom>
          <a:solidFill>
            <a:srgbClr val="A0375C">
              <a:alpha val="56489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17145000" y="5218748"/>
            <a:ext cx="73152" cy="5068252"/>
          </a:xfrm>
          <a:prstGeom prst="rect">
            <a:avLst/>
          </a:prstGeom>
          <a:solidFill>
            <a:srgbClr val="A0375C">
              <a:alpha val="48265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17373600" y="5329604"/>
            <a:ext cx="73152" cy="4957396"/>
          </a:xfrm>
          <a:prstGeom prst="rect">
            <a:avLst/>
          </a:prstGeom>
          <a:solidFill>
            <a:srgbClr val="A0375C">
              <a:alpha val="4616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17602200" y="4181164"/>
            <a:ext cx="73152" cy="6105836"/>
          </a:xfrm>
          <a:prstGeom prst="rect">
            <a:avLst/>
          </a:prstGeom>
          <a:solidFill>
            <a:srgbClr val="A0375C">
              <a:alpha val="42215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17830800" y="1289613"/>
            <a:ext cx="73152" cy="8997387"/>
          </a:xfrm>
          <a:prstGeom prst="rect">
            <a:avLst/>
          </a:prstGeom>
          <a:solidFill>
            <a:srgbClr val="A0375C">
              <a:alpha val="46338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18059400" y="5671083"/>
            <a:ext cx="73152" cy="4615917"/>
          </a:xfrm>
          <a:prstGeom prst="rect">
            <a:avLst/>
          </a:prstGeom>
          <a:solidFill>
            <a:srgbClr val="A0375C">
              <a:alpha val="51895"/>
            </a:srgbClr>
          </a:solidFill>
          <a:ln/>
        </p:spPr>
      </p:sp>
      <p:sp>
        <p:nvSpPr>
          <p:cNvPr id="83" name="Text 81"/>
          <p:cNvSpPr/>
          <p:nvPr/>
        </p:nvSpPr>
        <p:spPr>
          <a:xfrm>
            <a:off x="822960" y="2743200"/>
            <a:ext cx="164592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ways</a:t>
            </a:r>
            <a:endParaRPr lang="en-US" sz="11000" dirty="0"/>
          </a:p>
          <a:p>
            <a:pPr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work together.</a:t>
            </a:r>
            <a:endParaRPr lang="en-US" sz="11000" dirty="0"/>
          </a:p>
        </p:txBody>
      </p:sp>
      <p:sp>
        <p:nvSpPr>
          <p:cNvPr id="84" name="Shape 82"/>
          <p:cNvSpPr/>
          <p:nvPr/>
        </p:nvSpPr>
        <p:spPr>
          <a:xfrm>
            <a:off x="822960" y="7772400"/>
            <a:ext cx="1097280" cy="274320"/>
          </a:xfrm>
          <a:prstGeom prst="rect">
            <a:avLst/>
          </a:prstGeom>
          <a:solidFill>
            <a:srgbClr val="FFC627"/>
          </a:solidFill>
          <a:ln/>
        </p:spPr>
      </p:sp>
      <p:sp>
        <p:nvSpPr>
          <p:cNvPr id="85" name="Text 83"/>
          <p:cNvSpPr/>
          <p:nvPr/>
        </p:nvSpPr>
        <p:spPr>
          <a:xfrm>
            <a:off x="2194560" y="7726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THREE LAYERS TO SIX OPPORTUNITIES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280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 EVIDENCE-BACKED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097280"/>
            <a:ext cx="8229600" cy="822960"/>
          </a:xfrm>
          <a:prstGeom prst="rect">
            <a:avLst/>
          </a:prstGeom>
          <a:solidFill>
            <a:srgbClr val="FFC62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914400"/>
            <a:ext cx="1645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opportunities the data supports.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822960" y="2560320"/>
            <a:ext cx="54406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560320"/>
            <a:ext cx="5440680" cy="320040"/>
          </a:xfrm>
          <a:prstGeom prst="rect">
            <a:avLst/>
          </a:prstGeom>
          <a:solidFill>
            <a:srgbClr val="FFC627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10896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C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2286000" y="320040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Reciprocal-credit compact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434340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a crosswalk for the 1,619 mutual-strong pairs. Removes transfer-evaluation friction.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512064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" y="53949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1,619 pairs ≥ 0.70 cosine, both directions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143000" y="5715000"/>
            <a:ext cx="1463040" cy="320040"/>
          </a:xfrm>
          <a:prstGeom prst="roundRect">
            <a:avLst>
              <a:gd name="adj" fmla="val 50000"/>
            </a:avLst>
          </a:prstGeom>
          <a:solidFill>
            <a:srgbClr val="191919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5715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92240" y="2560320"/>
            <a:ext cx="54406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2560320"/>
            <a:ext cx="5440680" cy="320040"/>
          </a:xfrm>
          <a:prstGeom prst="rect">
            <a:avLst/>
          </a:prstGeom>
          <a:solidFill>
            <a:srgbClr val="E8474C"/>
          </a:solidFill>
          <a:ln/>
        </p:spPr>
      </p:sp>
      <p:sp>
        <p:nvSpPr>
          <p:cNvPr id="16" name="Text 14"/>
          <p:cNvSpPr/>
          <p:nvPr/>
        </p:nvSpPr>
        <p:spPr>
          <a:xfrm>
            <a:off x="6812280" y="310896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4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200" dirty="0"/>
          </a:p>
        </p:txBody>
      </p:sp>
      <p:sp>
        <p:nvSpPr>
          <p:cNvPr id="17" name="Text 15"/>
          <p:cNvSpPr/>
          <p:nvPr/>
        </p:nvSpPr>
        <p:spPr>
          <a:xfrm>
            <a:off x="7955280" y="320040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 + language stackable minor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812280" y="434340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Co-designed minor built from 10 ASU subjects with &gt;65% strong overlap (HEB, LAP, AES, GRK, POR, JST).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12280" y="512064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12280" y="53949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HEB 88% · LAP 82% · AES 75% · GRK 68%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12280" y="5715000"/>
            <a:ext cx="1737360" cy="320040"/>
          </a:xfrm>
          <a:prstGeom prst="roundRect">
            <a:avLst>
              <a:gd name="adj" fmla="val 50000"/>
            </a:avLst>
          </a:prstGeom>
          <a:solidFill>
            <a:srgbClr val="191919"/>
          </a:solidFill>
          <a:ln/>
        </p:spPr>
      </p:sp>
      <p:sp>
        <p:nvSpPr>
          <p:cNvPr id="22" name="Text 20"/>
          <p:cNvSpPr/>
          <p:nvPr/>
        </p:nvSpPr>
        <p:spPr>
          <a:xfrm>
            <a:off x="6812280" y="57150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CREDENTIAL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2161520" y="2560320"/>
            <a:ext cx="54406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161520" y="2560320"/>
            <a:ext cx="5440680" cy="320040"/>
          </a:xfrm>
          <a:prstGeom prst="rect">
            <a:avLst/>
          </a:prstGeom>
          <a:solidFill>
            <a:srgbClr val="FF8200"/>
          </a:solidFill>
          <a:ln/>
        </p:spPr>
      </p:sp>
      <p:sp>
        <p:nvSpPr>
          <p:cNvPr id="25" name="Text 23"/>
          <p:cNvSpPr/>
          <p:nvPr/>
        </p:nvSpPr>
        <p:spPr>
          <a:xfrm>
            <a:off x="12481560" y="310896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200" dirty="0"/>
          </a:p>
        </p:txBody>
      </p:sp>
      <p:sp>
        <p:nvSpPr>
          <p:cNvPr id="26" name="Text 24"/>
          <p:cNvSpPr/>
          <p:nvPr/>
        </p:nvSpPr>
        <p:spPr>
          <a:xfrm>
            <a:off x="13624560" y="320040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UTK-led applied-music certificate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2481560" y="434340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Stackable UTK certificate delivered at ASU online scale. MUPF (243) + MUEN (63) as backbone.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481560" y="512064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2481560" y="53949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MUPF 49% distinctive, 47% moderate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2481560" y="5715000"/>
            <a:ext cx="1463040" cy="320040"/>
          </a:xfrm>
          <a:prstGeom prst="roundRect">
            <a:avLst>
              <a:gd name="adj" fmla="val 50000"/>
            </a:avLst>
          </a:prstGeom>
          <a:solidFill>
            <a:srgbClr val="191919"/>
          </a:solidFill>
          <a:ln/>
        </p:spPr>
      </p:sp>
      <p:sp>
        <p:nvSpPr>
          <p:cNvPr id="31" name="Text 29"/>
          <p:cNvSpPr/>
          <p:nvPr/>
        </p:nvSpPr>
        <p:spPr>
          <a:xfrm>
            <a:off x="12481560" y="5715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IP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22960" y="6492240"/>
            <a:ext cx="54406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2960" y="6492240"/>
            <a:ext cx="5440680" cy="32004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4" name="Text 32"/>
          <p:cNvSpPr/>
          <p:nvPr/>
        </p:nvSpPr>
        <p:spPr>
          <a:xfrm>
            <a:off x="1143000" y="704088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200" dirty="0"/>
          </a:p>
        </p:txBody>
      </p:sp>
      <p:sp>
        <p:nvSpPr>
          <p:cNvPr id="35" name="Text 33"/>
          <p:cNvSpPr/>
          <p:nvPr/>
        </p:nvSpPr>
        <p:spPr>
          <a:xfrm>
            <a:off x="2286000" y="713232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Land-grant × sustainability bridge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1143000" y="827532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UTK FORS / PLSC / ANSC / VMP ↔ ASU ABS / SOS. Moderate content adjacency without duplication.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43000" y="905256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43000" y="93268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UTK subjects, ~350 combined courses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1143000" y="9646920"/>
            <a:ext cx="1463040" cy="320040"/>
          </a:xfrm>
          <a:prstGeom prst="roundRect">
            <a:avLst>
              <a:gd name="adj" fmla="val 50000"/>
            </a:avLst>
          </a:prstGeom>
          <a:solidFill>
            <a:srgbClr val="191919"/>
          </a:solidFill>
          <a:ln/>
        </p:spPr>
      </p:sp>
      <p:sp>
        <p:nvSpPr>
          <p:cNvPr id="40" name="Text 38"/>
          <p:cNvSpPr/>
          <p:nvPr/>
        </p:nvSpPr>
        <p:spPr>
          <a:xfrm>
            <a:off x="1143000" y="96469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GRADUATE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492240" y="6492240"/>
            <a:ext cx="54406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92240" y="6492240"/>
            <a:ext cx="5440680" cy="32004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43" name="Text 41"/>
          <p:cNvSpPr/>
          <p:nvPr/>
        </p:nvSpPr>
        <p:spPr>
          <a:xfrm>
            <a:off x="6812280" y="704088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200" dirty="0"/>
          </a:p>
        </p:txBody>
      </p:sp>
      <p:sp>
        <p:nvSpPr>
          <p:cNvPr id="44" name="Text 42"/>
          <p:cNvSpPr/>
          <p:nvPr/>
        </p:nvSpPr>
        <p:spPr>
          <a:xfrm>
            <a:off x="7955280" y="713232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&amp; aviation program swap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6812280" y="827532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UTK NE (110 courses, 31% distinctive) and ASU ATC (10 courses, 70% distinctive) — articulation agreements.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812280" y="905256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812280" y="93268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highly-specialized, low-supply workforces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812280" y="9646920"/>
            <a:ext cx="1463040" cy="320040"/>
          </a:xfrm>
          <a:prstGeom prst="roundRect">
            <a:avLst>
              <a:gd name="adj" fmla="val 50000"/>
            </a:avLst>
          </a:prstGeom>
          <a:solidFill>
            <a:srgbClr val="191919"/>
          </a:solidFill>
          <a:ln/>
        </p:spPr>
      </p:sp>
      <p:sp>
        <p:nvSpPr>
          <p:cNvPr id="49" name="Text 47"/>
          <p:cNvSpPr/>
          <p:nvPr/>
        </p:nvSpPr>
        <p:spPr>
          <a:xfrm>
            <a:off x="6812280" y="96469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SPECIALTY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12161520" y="6492240"/>
            <a:ext cx="54406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2161520" y="6492240"/>
            <a:ext cx="544068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2" name="Text 50"/>
          <p:cNvSpPr/>
          <p:nvPr/>
        </p:nvSpPr>
        <p:spPr>
          <a:xfrm>
            <a:off x="12481560" y="704088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200" dirty="0"/>
          </a:p>
        </p:txBody>
      </p:sp>
      <p:sp>
        <p:nvSpPr>
          <p:cNvPr id="53" name="Text 51"/>
          <p:cNvSpPr/>
          <p:nvPr/>
        </p:nvSpPr>
        <p:spPr>
          <a:xfrm>
            <a:off x="13624560" y="713232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Applied-engaged micro-credential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12481560" y="827532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 tagged for UTK VolCore EI + ASU upper-div. L. Both institutional stamps on one credential.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2481560" y="905256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2481560" y="93268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UTK EI: 232 courses; ASU L: 440 courses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12481560" y="9646920"/>
            <a:ext cx="1463040" cy="320040"/>
          </a:xfrm>
          <a:prstGeom prst="roundRect">
            <a:avLst>
              <a:gd name="adj" fmla="val 50000"/>
            </a:avLst>
          </a:prstGeom>
          <a:solidFill>
            <a:srgbClr val="191919"/>
          </a:solidFill>
          <a:ln/>
        </p:spPr>
      </p:sp>
      <p:sp>
        <p:nvSpPr>
          <p:cNvPr id="58" name="Text 56"/>
          <p:cNvSpPr/>
          <p:nvPr/>
        </p:nvSpPr>
        <p:spPr>
          <a:xfrm>
            <a:off x="12481560" y="96469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AMBITIOUS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280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· LIMITATIONS · NEXT STEPS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097280"/>
            <a:ext cx="7315200" cy="822960"/>
          </a:xfrm>
          <a:prstGeom prst="rect">
            <a:avLst/>
          </a:prstGeom>
          <a:solidFill>
            <a:srgbClr val="FFC62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914400"/>
            <a:ext cx="1645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Trust, but verify.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ANALYSIS IS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3291840"/>
            <a:ext cx="109728" cy="1005840"/>
          </a:xfrm>
          <a:prstGeom prst="rect">
            <a:avLst/>
          </a:prstGeom>
          <a:solidFill>
            <a:srgbClr val="8C1D40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3291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embeddings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37033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sentence-transformers all-MiniLM-L6-v2, cosine similarity on title + description.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4572000"/>
            <a:ext cx="109728" cy="1005840"/>
          </a:xfrm>
          <a:prstGeom prst="rect">
            <a:avLst/>
          </a:prstGeom>
          <a:solidFill>
            <a:srgbClr val="8C1D40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4572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Mutual-strong filter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49834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sides must pick each other at ≥ 0.70 cosine. The highest-confidence bucket.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5852160"/>
            <a:ext cx="109728" cy="1005840"/>
          </a:xfrm>
          <a:prstGeom prst="rect">
            <a:avLst/>
          </a:prstGeom>
          <a:solidFill>
            <a:srgbClr val="8C1D40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58521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Shell bucket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97280" y="62636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 / Seminar / Internship / Special Topics filtered out of overlap counts heuristically.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" y="7132320"/>
            <a:ext cx="109728" cy="1005840"/>
          </a:xfrm>
          <a:prstGeom prst="rect">
            <a:avLst/>
          </a:prstGeom>
          <a:solidFill>
            <a:srgbClr val="8C1D40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7132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year note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75438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ASU + UTK-grad on 2025–26; UTK-undergrad on 2026–27. 3–5% churn typical.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50976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D7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DO NEXT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509760" y="3291840"/>
            <a:ext cx="109728" cy="1005840"/>
          </a:xfrm>
          <a:prstGeom prst="rect">
            <a:avLst/>
          </a:prstGeom>
          <a:solidFill>
            <a:srgbClr val="FFC627"/>
          </a:solidFill>
          <a:ln/>
        </p:spPr>
      </p:sp>
      <p:sp>
        <p:nvSpPr>
          <p:cNvPr id="20" name="Text 18"/>
          <p:cNvSpPr/>
          <p:nvPr/>
        </p:nvSpPr>
        <p:spPr>
          <a:xfrm>
            <a:off x="9784080" y="3291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review of 1,619 mutual pairs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784080" y="37033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Fastest transfer of value from this analysis. Likely 90%+ accept-as-equivalent.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509760" y="4572000"/>
            <a:ext cx="109728" cy="1005840"/>
          </a:xfrm>
          <a:prstGeom prst="rect">
            <a:avLst/>
          </a:prstGeom>
          <a:solidFill>
            <a:srgbClr val="FFC627"/>
          </a:solidFill>
          <a:ln/>
        </p:spPr>
      </p:sp>
      <p:sp>
        <p:nvSpPr>
          <p:cNvPr id="23" name="Text 21"/>
          <p:cNvSpPr/>
          <p:nvPr/>
        </p:nvSpPr>
        <p:spPr>
          <a:xfrm>
            <a:off x="9784080" y="4572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with UTK Provost / Online Ed.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784080" y="49834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appetite for 1–2 opportunities. Opp. 01 + Opp. 03 are the natural first pair.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509760" y="5852160"/>
            <a:ext cx="109728" cy="1005840"/>
          </a:xfrm>
          <a:prstGeom prst="rect">
            <a:avLst/>
          </a:prstGeom>
          <a:solidFill>
            <a:srgbClr val="FFC627"/>
          </a:solidFill>
          <a:ln/>
        </p:spPr>
      </p:sp>
      <p:sp>
        <p:nvSpPr>
          <p:cNvPr id="26" name="Text 24"/>
          <p:cNvSpPr/>
          <p:nvPr/>
        </p:nvSpPr>
        <p:spPr>
          <a:xfrm>
            <a:off x="9784080" y="58521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revenue for top-2 opportunities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784080" y="62636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financial case. ASU online + UTK content IP arithmetic.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509760" y="7132320"/>
            <a:ext cx="109728" cy="1005840"/>
          </a:xfrm>
          <a:prstGeom prst="rect">
            <a:avLst/>
          </a:prstGeom>
          <a:solidFill>
            <a:srgbClr val="FFC627"/>
          </a:solidFill>
          <a:ln/>
        </p:spPr>
      </p:sp>
      <p:sp>
        <p:nvSpPr>
          <p:cNvPr id="29" name="Text 27"/>
          <p:cNvSpPr/>
          <p:nvPr/>
        </p:nvSpPr>
        <p:spPr>
          <a:xfrm>
            <a:off x="9784080" y="7132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Domain-tune the embedding model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784080" y="75438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 on catalog-description pairs to lift precision on the moderate↔strong boundary.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C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645920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what</a:t>
            </a:r>
            <a:endParaRPr lang="en-US" sz="11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 school can</a:t>
            </a:r>
            <a:endParaRPr lang="en-US" sz="11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alone.</a:t>
            </a:r>
            <a:endParaRPr lang="en-US" sz="11000" dirty="0"/>
          </a:p>
        </p:txBody>
      </p:sp>
      <p:sp>
        <p:nvSpPr>
          <p:cNvPr id="3" name="Shape 1"/>
          <p:cNvSpPr/>
          <p:nvPr/>
        </p:nvSpPr>
        <p:spPr>
          <a:xfrm>
            <a:off x="822960" y="7863840"/>
            <a:ext cx="1097280" cy="182880"/>
          </a:xfrm>
          <a:prstGeom prst="rect">
            <a:avLst/>
          </a:prstGeom>
          <a:solidFill>
            <a:srgbClr val="19191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138160"/>
            <a:ext cx="1554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from a complete scrape of both live catalogs — </a:t>
            </a:r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23,948 courses across 560 subject codes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on 24 April 2026. Semantic matching with sentence-transformers.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8595360"/>
            <a:ext cx="1554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drill-down available in the companion HTML report.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941832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b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ASU</a:t>
            </a:r>
            <a:pPr indent="0" marL="0">
              <a:buNone/>
            </a:pPr>
            <a:r>
              <a:rPr lang="en-US" sz="168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EdPlus</a:t>
            </a:r>
            <a:endParaRPr lang="en-US" sz="1680" dirty="0"/>
          </a:p>
        </p:txBody>
      </p:sp>
      <p:sp>
        <p:nvSpPr>
          <p:cNvPr id="7" name="Text 5"/>
          <p:cNvSpPr/>
          <p:nvPr/>
        </p:nvSpPr>
        <p:spPr>
          <a:xfrm>
            <a:off x="822960" y="972555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State University</a:t>
            </a:r>
            <a:endParaRPr lang="en-US" sz="9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ASU × UTK Catalog Comparison v2</dc:title>
  <dc:subject>PptxGenJS Presentation</dc:subject>
  <dc:creator>EdPlus at ASU</dc:creator>
  <cp:lastModifiedBy>EdPlus at ASU</cp:lastModifiedBy>
  <cp:revision>1</cp:revision>
  <dcterms:created xsi:type="dcterms:W3CDTF">2026-04-24T22:08:55Z</dcterms:created>
  <dcterms:modified xsi:type="dcterms:W3CDTF">2026-04-24T22:08:55Z</dcterms:modified>
</cp:coreProperties>
</file>